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7" r:id="rId4"/>
    <p:sldId id="259" r:id="rId5"/>
    <p:sldId id="261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6366" autoAdjust="0"/>
  </p:normalViewPr>
  <p:slideViewPr>
    <p:cSldViewPr snapToGrid="0" snapToObjects="1">
      <p:cViewPr varScale="1">
        <p:scale>
          <a:sx n="144" d="100"/>
          <a:sy n="144" d="100"/>
        </p:scale>
        <p:origin x="66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m Hyuk Lee" userId="b861206160250df4" providerId="LiveId" clId="{A76217CD-C5C6-44E3-8E51-8DCBD06FD4BC}"/>
    <pc:docChg chg="undo custSel modSld sldOrd">
      <pc:chgData name="Nam Hyuk Lee" userId="b861206160250df4" providerId="LiveId" clId="{A76217CD-C5C6-44E3-8E51-8DCBD06FD4BC}" dt="2026-04-02T05:24:32.485" v="168" actId="113"/>
      <pc:docMkLst>
        <pc:docMk/>
      </pc:docMkLst>
      <pc:sldChg chg="modSp mod">
        <pc:chgData name="Nam Hyuk Lee" userId="b861206160250df4" providerId="LiveId" clId="{A76217CD-C5C6-44E3-8E51-8DCBD06FD4BC}" dt="2026-04-02T05:20:27.549" v="140" actId="113"/>
        <pc:sldMkLst>
          <pc:docMk/>
          <pc:sldMk cId="0" sldId="256"/>
        </pc:sldMkLst>
        <pc:spChg chg="mod">
          <ac:chgData name="Nam Hyuk Lee" userId="b861206160250df4" providerId="LiveId" clId="{A76217CD-C5C6-44E3-8E51-8DCBD06FD4BC}" dt="2026-04-02T04:52:20.133" v="132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Nam Hyuk Lee" userId="b861206160250df4" providerId="LiveId" clId="{A76217CD-C5C6-44E3-8E51-8DCBD06FD4BC}" dt="2026-04-02T04:52:15.658" v="130" actId="14100"/>
          <ac:spMkLst>
            <pc:docMk/>
            <pc:sldMk cId="0" sldId="256"/>
            <ac:spMk id="4" creationId="{00000000-0000-0000-0000-000000000000}"/>
          </ac:spMkLst>
        </pc:spChg>
        <pc:spChg chg="mod">
          <ac:chgData name="Nam Hyuk Lee" userId="b861206160250df4" providerId="LiveId" clId="{A76217CD-C5C6-44E3-8E51-8DCBD06FD4BC}" dt="2026-04-02T04:52:25.609" v="133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Nam Hyuk Lee" userId="b861206160250df4" providerId="LiveId" clId="{A76217CD-C5C6-44E3-8E51-8DCBD06FD4BC}" dt="2026-04-02T05:20:27.549" v="140" actId="113"/>
          <ac:spMkLst>
            <pc:docMk/>
            <pc:sldMk cId="0" sldId="256"/>
            <ac:spMk id="6" creationId="{00000000-0000-0000-0000-000000000000}"/>
          </ac:spMkLst>
        </pc:spChg>
      </pc:sldChg>
      <pc:sldChg chg="modSp mod ord">
        <pc:chgData name="Nam Hyuk Lee" userId="b861206160250df4" providerId="LiveId" clId="{A76217CD-C5C6-44E3-8E51-8DCBD06FD4BC}" dt="2026-04-02T05:20:57.175" v="145" actId="20577"/>
        <pc:sldMkLst>
          <pc:docMk/>
          <pc:sldMk cId="0" sldId="258"/>
        </pc:sldMkLst>
        <pc:spChg chg="mod">
          <ac:chgData name="Nam Hyuk Lee" userId="b861206160250df4" providerId="LiveId" clId="{A76217CD-C5C6-44E3-8E51-8DCBD06FD4BC}" dt="2026-04-02T05:20:19.571" v="139" actId="21"/>
          <ac:spMkLst>
            <pc:docMk/>
            <pc:sldMk cId="0" sldId="258"/>
            <ac:spMk id="6" creationId="{00000000-0000-0000-0000-000000000000}"/>
          </ac:spMkLst>
        </pc:spChg>
        <pc:spChg chg="mod">
          <ac:chgData name="Nam Hyuk Lee" userId="b861206160250df4" providerId="LiveId" clId="{A76217CD-C5C6-44E3-8E51-8DCBD06FD4BC}" dt="2026-04-02T05:20:12.360" v="136" actId="113"/>
          <ac:spMkLst>
            <pc:docMk/>
            <pc:sldMk cId="0" sldId="258"/>
            <ac:spMk id="10" creationId="{00000000-0000-0000-0000-000000000000}"/>
          </ac:spMkLst>
        </pc:spChg>
        <pc:spChg chg="mod">
          <ac:chgData name="Nam Hyuk Lee" userId="b861206160250df4" providerId="LiveId" clId="{A76217CD-C5C6-44E3-8E51-8DCBD06FD4BC}" dt="2026-04-02T05:20:57.175" v="145" actId="2057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Nam Hyuk Lee" userId="b861206160250df4" providerId="LiveId" clId="{A76217CD-C5C6-44E3-8E51-8DCBD06FD4BC}" dt="2026-04-02T05:20:16.323" v="138" actId="113"/>
          <ac:spMkLst>
            <pc:docMk/>
            <pc:sldMk cId="0" sldId="258"/>
            <ac:spMk id="16" creationId="{00000000-0000-0000-0000-000000000000}"/>
          </ac:spMkLst>
        </pc:spChg>
      </pc:sldChg>
      <pc:sldChg chg="modSp mod">
        <pc:chgData name="Nam Hyuk Lee" userId="b861206160250df4" providerId="LiveId" clId="{A76217CD-C5C6-44E3-8E51-8DCBD06FD4BC}" dt="2026-04-02T05:24:32.485" v="168" actId="113"/>
        <pc:sldMkLst>
          <pc:docMk/>
          <pc:sldMk cId="0" sldId="259"/>
        </pc:sldMkLst>
        <pc:spChg chg="mod">
          <ac:chgData name="Nam Hyuk Lee" userId="b861206160250df4" providerId="LiveId" clId="{A76217CD-C5C6-44E3-8E51-8DCBD06FD4BC}" dt="2026-04-02T04:23:09.627" v="95" actId="2057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Nam Hyuk Lee" userId="b861206160250df4" providerId="LiveId" clId="{A76217CD-C5C6-44E3-8E51-8DCBD06FD4BC}" dt="2026-04-02T05:24:32.485" v="168" actId="113"/>
          <ac:spMkLst>
            <pc:docMk/>
            <pc:sldMk cId="0" sldId="259"/>
            <ac:spMk id="15" creationId="{00000000-0000-0000-0000-000000000000}"/>
          </ac:spMkLst>
        </pc:spChg>
      </pc:sldChg>
      <pc:sldChg chg="modSp mod">
        <pc:chgData name="Nam Hyuk Lee" userId="b861206160250df4" providerId="LiveId" clId="{A76217CD-C5C6-44E3-8E51-8DCBD06FD4BC}" dt="2026-04-02T04:16:26.334" v="19" actId="20577"/>
        <pc:sldMkLst>
          <pc:docMk/>
          <pc:sldMk cId="0" sldId="261"/>
        </pc:sldMkLst>
        <pc:spChg chg="mod">
          <ac:chgData name="Nam Hyuk Lee" userId="b861206160250df4" providerId="LiveId" clId="{A76217CD-C5C6-44E3-8E51-8DCBD06FD4BC}" dt="2026-04-02T04:16:26.334" v="19" actId="20577"/>
          <ac:spMkLst>
            <pc:docMk/>
            <pc:sldMk cId="0" sldId="261"/>
            <ac:spMk id="2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5699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18"/>
            <a:ext cx="9144000" cy="447112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50A0E">
              <a:alpha val="80000"/>
            </a:srgbClr>
          </a:solidFill>
          <a:ln w="12700">
            <a:solidFill>
              <a:srgbClr val="050A0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57199" y="457200"/>
            <a:ext cx="602311" cy="274318"/>
          </a:xfrm>
          <a:prstGeom prst="rect">
            <a:avLst/>
          </a:prstGeom>
          <a:solidFill>
            <a:srgbClr val="BB2025"/>
          </a:solidFill>
          <a:ln w="12700">
            <a:solidFill>
              <a:srgbClr val="BB202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6894" y="47015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Concept Board</a:t>
            </a:r>
          </a:p>
        </p:txBody>
      </p:sp>
      <p:sp>
        <p:nvSpPr>
          <p:cNvPr id="6" name="Text 3"/>
          <p:cNvSpPr/>
          <p:nvPr/>
        </p:nvSpPr>
        <p:spPr>
          <a:xfrm>
            <a:off x="457200" y="914399"/>
            <a:ext cx="3989810" cy="861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chemeClr val="bg1"/>
                </a:solidFill>
              </a:rPr>
              <a:t>현실의 제약을 </a:t>
            </a:r>
            <a:endParaRPr lang="en-US" altLang="ko-KR" sz="32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ko-KR" altLang="en-US" sz="3200" b="1" dirty="0">
                <a:solidFill>
                  <a:schemeClr val="bg1"/>
                </a:solidFill>
              </a:rPr>
              <a:t>가상의 공간에서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2057400"/>
            <a:ext cx="3200400" cy="2286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5D0D8"/>
                </a:solidFill>
              </a:rPr>
              <a:t>C111115 </a:t>
            </a:r>
            <a:r>
              <a:rPr lang="ko-KR" altLang="en-US" sz="1100" b="1" i="1" dirty="0">
                <a:solidFill>
                  <a:srgbClr val="C5D0D8"/>
                </a:solidFill>
              </a:rPr>
              <a:t>컴퓨터공학과 </a:t>
            </a:r>
            <a:r>
              <a:rPr lang="ko-KR" altLang="en-US" sz="1100" b="1" i="1" dirty="0" err="1">
                <a:solidFill>
                  <a:srgbClr val="C5D0D8"/>
                </a:solidFill>
              </a:rPr>
              <a:t>이남혁</a:t>
            </a:r>
            <a:endParaRPr lang="en-US" sz="1100" b="1" dirty="0"/>
          </a:p>
        </p:txBody>
      </p:sp>
      <p:sp>
        <p:nvSpPr>
          <p:cNvPr id="10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chemeClr val="accent1">
              <a:alpha val="15000"/>
            </a:schemeClr>
          </a:solidFill>
          <a:ln w="12700">
            <a:solidFill>
              <a:srgbClr val="BB202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48463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Text 1"/>
          <p:cNvSpPr/>
          <p:nvPr/>
        </p:nvSpPr>
        <p:spPr>
          <a:xfrm>
            <a:off x="429768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B2025"/>
                </a:solidFill>
              </a:rPr>
              <a:t>02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1440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00C2D4"/>
                </a:solidFill>
              </a:rPr>
              <a:t>THE VISION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914400" y="100584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endParaRPr lang="en-US" sz="36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914400" y="3474720"/>
            <a:ext cx="1554480" cy="27432"/>
          </a:xfrm>
          <a:prstGeom prst="rect">
            <a:avLst/>
          </a:prstGeom>
          <a:solidFill>
            <a:srgbClr val="BB2025"/>
          </a:solidFill>
          <a:ln w="12700">
            <a:solidFill>
              <a:srgbClr val="BB202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35478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0000"/>
                </a:solidFill>
              </a:rPr>
              <a:t>Shaping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914400" y="38221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chemeClr val="bg1"/>
                </a:solidFill>
              </a:rPr>
              <a:t>물리적 공간의 한계 → </a:t>
            </a:r>
            <a:endParaRPr lang="en-US" altLang="ko-KR" sz="1000" b="1" dirty="0">
              <a:solidFill>
                <a:schemeClr val="bg1"/>
              </a:solidFill>
            </a:endParaRPr>
          </a:p>
          <a:p>
            <a:r>
              <a:rPr lang="ko-KR" altLang="en-US" sz="1000" b="1" dirty="0">
                <a:solidFill>
                  <a:schemeClr val="bg1"/>
                </a:solidFill>
              </a:rPr>
              <a:t>가상 공간의 확장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3794760" y="3474720"/>
            <a:ext cx="1554480" cy="27432"/>
          </a:xfrm>
          <a:prstGeom prst="rect">
            <a:avLst/>
          </a:prstGeom>
          <a:solidFill>
            <a:srgbClr val="BB2025"/>
          </a:solidFill>
          <a:ln w="12700">
            <a:solidFill>
              <a:srgbClr val="BB202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94760" y="35478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C000"/>
                </a:solidFill>
              </a:rPr>
              <a:t>IMMERSION</a:t>
            </a:r>
            <a:endParaRPr lang="en-US" sz="1000" dirty="0">
              <a:solidFill>
                <a:srgbClr val="FFC000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3794760" y="38221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chemeClr val="bg1"/>
                </a:solidFill>
              </a:rPr>
              <a:t>경제적 제약 → </a:t>
            </a:r>
            <a:endParaRPr lang="en-US" altLang="ko-KR" sz="1000" b="1" dirty="0">
              <a:solidFill>
                <a:schemeClr val="bg1"/>
              </a:solidFill>
            </a:endParaRPr>
          </a:p>
          <a:p>
            <a:r>
              <a:rPr lang="ko-KR" altLang="en-US" sz="1000" b="1" dirty="0">
                <a:solidFill>
                  <a:schemeClr val="bg1"/>
                </a:solidFill>
              </a:rPr>
              <a:t>디지털 자산의 소유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675120" y="3474720"/>
            <a:ext cx="1554480" cy="27432"/>
          </a:xfrm>
          <a:prstGeom prst="rect">
            <a:avLst/>
          </a:prstGeom>
          <a:solidFill>
            <a:srgbClr val="BB2025"/>
          </a:solidFill>
          <a:ln w="12700">
            <a:solidFill>
              <a:srgbClr val="BB202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75120" y="35478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2D050"/>
                </a:solidFill>
              </a:rPr>
              <a:t>OWNERSHIP</a:t>
            </a:r>
            <a:endParaRPr lang="en-US" sz="1000" dirty="0">
              <a:solidFill>
                <a:srgbClr val="92D050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6675120" y="38221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chemeClr val="bg1"/>
                </a:solidFill>
              </a:rPr>
              <a:t>감각의 휘발성 → </a:t>
            </a:r>
            <a:endParaRPr lang="en-US" altLang="ko-KR" sz="1000" b="1" dirty="0">
              <a:solidFill>
                <a:schemeClr val="bg1"/>
              </a:solidFill>
            </a:endParaRPr>
          </a:p>
          <a:p>
            <a:r>
              <a:rPr lang="ko-KR" altLang="en-US" sz="1000" b="1" dirty="0">
                <a:solidFill>
                  <a:schemeClr val="bg1"/>
                </a:solidFill>
              </a:rPr>
              <a:t>신체적 기억의 각인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7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400" dirty="0">
                <a:solidFill>
                  <a:srgbClr val="8FA3B1"/>
                </a:solidFill>
              </a:rPr>
              <a:t>KIA — THE SHAPE OF MOTION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B2025"/>
          </a:solidFill>
          <a:ln w="12700">
            <a:solidFill>
              <a:srgbClr val="BB20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74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B2025"/>
                </a:solidFill>
              </a:rPr>
              <a:t>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0C2D4"/>
                </a:solidFill>
              </a:rPr>
              <a:t>THE QUESTION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왜 우리는 콘셉트카를</a:t>
            </a:r>
            <a:endParaRPr lang="en-US" sz="3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'보기만' 해야 할까?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kern="0" spc="300" dirty="0">
                <a:solidFill>
                  <a:srgbClr val="00C2D4"/>
                </a:solidFill>
              </a:rPr>
              <a:t>WHY DO WE ONLY WATCH CONCEPT CARS?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E8EDF2"/>
                </a:solidFill>
              </a:rPr>
              <a:t>콘셉트카는</a:t>
            </a:r>
            <a:r>
              <a:rPr lang="en-US" sz="1300" dirty="0">
                <a:solidFill>
                  <a:srgbClr val="E8EDF2"/>
                </a:solidFill>
              </a:rPr>
              <a:t> 매번 사람들을 설레게 하지만,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8EDF2"/>
                </a:solidFill>
              </a:rPr>
              <a:t>정작 사람들은 유리창 너머로 구경만 할 뿐입니다.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8EDF2"/>
                </a:solidFill>
              </a:rPr>
              <a:t>'구경'을 '경험'으로 바꾸고자 합니다.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56048" y="402336"/>
            <a:ext cx="3931920" cy="48417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37760" y="365760"/>
            <a:ext cx="3931920" cy="36576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37760" y="365760"/>
            <a:ext cx="36576" cy="43891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400" dirty="0">
                <a:solidFill>
                  <a:srgbClr val="8FA3B1"/>
                </a:solidFill>
              </a:rPr>
              <a:t>KIA — THE SHAPE OF MOTION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0" y="5016"/>
            <a:ext cx="50292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B2025"/>
          </a:solidFill>
          <a:ln w="12700">
            <a:solidFill>
              <a:srgbClr val="BB202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" y="274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B2025"/>
                </a:solidFill>
              </a:rPr>
              <a:t>03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548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C2D4"/>
                </a:solidFill>
              </a:rPr>
              <a:t>EXPERIENCE 01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91440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ko-KR" altLang="en-US" sz="2800" b="1" dirty="0">
                <a:solidFill>
                  <a:schemeClr val="bg1"/>
                </a:solidFill>
                <a:latin typeface="Arial Black" panose="020B0A04020102020204" pitchFamily="34" charset="0"/>
              </a:rPr>
              <a:t>가변적 인터페이스</a:t>
            </a:r>
            <a:endParaRPr lang="en-US" sz="28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2240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800" dirty="0">
                <a:solidFill>
                  <a:srgbClr val="BB2025"/>
                </a:solidFill>
              </a:rPr>
              <a:t>SHAPING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57200" y="2788920"/>
            <a:ext cx="201168" cy="201168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7614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ko-KR" altLang="en-US" sz="1100" dirty="0">
                <a:solidFill>
                  <a:schemeClr val="bg1"/>
                </a:solidFill>
              </a:rPr>
              <a:t>실시간 기하학적 </a:t>
            </a:r>
            <a:r>
              <a:rPr lang="ko-KR" altLang="en-US" sz="1100" b="1" dirty="0">
                <a:solidFill>
                  <a:schemeClr val="bg1"/>
                </a:solidFill>
              </a:rPr>
              <a:t>동기화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457200" y="3337560"/>
            <a:ext cx="201168" cy="201168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3101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ko-KR" altLang="en-US" sz="1100" dirty="0">
                <a:solidFill>
                  <a:schemeClr val="bg1"/>
                </a:solidFill>
              </a:rPr>
              <a:t>주행 환경에 따른 </a:t>
            </a:r>
            <a:r>
              <a:rPr lang="ko-KR" altLang="en-US" sz="1100" b="1" dirty="0">
                <a:solidFill>
                  <a:schemeClr val="bg1"/>
                </a:solidFill>
              </a:rPr>
              <a:t>공간 볼륨의 재구성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57200" y="3886200"/>
            <a:ext cx="201168" cy="201168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8587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ko-KR" altLang="en-US" sz="1100" dirty="0">
                <a:solidFill>
                  <a:schemeClr val="bg1"/>
                </a:solidFill>
              </a:rPr>
              <a:t>개인화된 </a:t>
            </a:r>
            <a:r>
              <a:rPr lang="ko-KR" altLang="en-US" sz="1100" b="1" dirty="0">
                <a:solidFill>
                  <a:schemeClr val="bg1"/>
                </a:solidFill>
              </a:rPr>
              <a:t>무한한</a:t>
            </a:r>
            <a:r>
              <a:rPr lang="ko-KR" altLang="en-US" sz="1100" dirty="0">
                <a:solidFill>
                  <a:schemeClr val="bg1"/>
                </a:solidFill>
              </a:rPr>
              <a:t> </a:t>
            </a:r>
            <a:r>
              <a:rPr lang="ko-KR" altLang="en-US" sz="1100" b="1" dirty="0">
                <a:solidFill>
                  <a:schemeClr val="bg1"/>
                </a:solidFill>
              </a:rPr>
              <a:t>공간 경험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16" name="Shape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0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050A0E">
              <a:alpha val="70000"/>
            </a:srgbClr>
          </a:solidFill>
          <a:ln w="12700">
            <a:solidFill>
              <a:srgbClr val="050A0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400" dirty="0">
                <a:solidFill>
                  <a:srgbClr val="8FA3B1"/>
                </a:solidFill>
              </a:rPr>
              <a:t>KIA — THE SHAPE OF MOTION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26517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2651760"/>
          </a:xfrm>
          <a:prstGeom prst="rect">
            <a:avLst/>
          </a:prstGeom>
          <a:solidFill>
            <a:srgbClr val="050A0E">
              <a:alpha val="80000"/>
            </a:srgbClr>
          </a:solidFill>
          <a:ln w="12700">
            <a:solidFill>
              <a:srgbClr val="050A0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20040" y="274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B2025"/>
                </a:solidFill>
              </a:rPr>
              <a:t>05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0" dirty="0">
                <a:solidFill>
                  <a:srgbClr val="00C2D4"/>
                </a:solidFill>
              </a:rPr>
              <a:t>THE VALUE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914400" y="1005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chemeClr val="bg1"/>
                </a:solidFill>
              </a:rPr>
              <a:t>주제 확장 가능성</a:t>
            </a:r>
            <a:endParaRPr lang="en-US" sz="3000" b="1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914400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600" dirty="0">
                <a:solidFill>
                  <a:srgbClr val="00B0F0"/>
                </a:solidFill>
              </a:rPr>
              <a:t>Roadmap &amp; Expansion</a:t>
            </a:r>
            <a:endParaRPr lang="en-US" sz="1600" dirty="0">
              <a:solidFill>
                <a:srgbClr val="00B0F0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0" y="2651760"/>
            <a:ext cx="9144000" cy="45720"/>
          </a:xfrm>
          <a:prstGeom prst="rect">
            <a:avLst/>
          </a:prstGeom>
          <a:solidFill>
            <a:srgbClr val="BB2025"/>
          </a:solidFill>
          <a:ln w="12700">
            <a:solidFill>
              <a:srgbClr val="BB20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2834640"/>
            <a:ext cx="2560320" cy="1920240"/>
          </a:xfrm>
          <a:prstGeom prst="rect">
            <a:avLst/>
          </a:prstGeom>
          <a:solidFill>
            <a:srgbClr val="0D2137"/>
          </a:solidFill>
          <a:ln w="6350">
            <a:solidFill>
              <a:srgbClr val="00C2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2926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B2025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292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chemeClr val="bg1"/>
                </a:solidFill>
                <a:latin typeface="+mn-ea"/>
              </a:rPr>
              <a:t>Phase 1.</a:t>
            </a:r>
            <a:endParaRPr lang="en-US" sz="18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02920" y="3886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ko-KR" altLang="en-US" sz="1000" dirty="0">
                <a:solidFill>
                  <a:schemeClr val="bg1"/>
                </a:solidFill>
              </a:rPr>
              <a:t>지금은 비록 </a:t>
            </a:r>
            <a:r>
              <a:rPr lang="ko-KR" altLang="en-US" sz="1000" dirty="0" err="1">
                <a:solidFill>
                  <a:schemeClr val="bg1"/>
                </a:solidFill>
              </a:rPr>
              <a:t>콘셉트카에</a:t>
            </a:r>
            <a:r>
              <a:rPr lang="ko-KR" altLang="en-US" sz="1000" dirty="0">
                <a:solidFill>
                  <a:schemeClr val="bg1"/>
                </a:solidFill>
              </a:rPr>
              <a:t> 국한되었지만</a:t>
            </a:r>
            <a:endParaRPr lang="en-US" altLang="ko-KR" sz="1000" dirty="0">
              <a:solidFill>
                <a:schemeClr val="bg1"/>
              </a:solidFill>
            </a:endParaRPr>
          </a:p>
          <a:p>
            <a:pPr>
              <a:lnSpc>
                <a:spcPct val="130000"/>
              </a:lnSpc>
            </a:pPr>
            <a:r>
              <a:rPr lang="ko-KR" altLang="en-US" sz="1000" dirty="0">
                <a:solidFill>
                  <a:schemeClr val="bg1"/>
                </a:solidFill>
              </a:rPr>
              <a:t>디자인 자산의 디지털 복제에서 시작해</a:t>
            </a:r>
            <a:r>
              <a:rPr lang="en-US" altLang="ko-KR" sz="1000" dirty="0">
                <a:solidFill>
                  <a:schemeClr val="bg1"/>
                </a:solidFill>
              </a:rPr>
              <a:t>, </a:t>
            </a:r>
            <a:r>
              <a:rPr lang="ko-KR" altLang="en-US" sz="1000" dirty="0" err="1">
                <a:solidFill>
                  <a:schemeClr val="bg1"/>
                </a:solidFill>
              </a:rPr>
              <a:t>모빌리티의</a:t>
            </a:r>
            <a:r>
              <a:rPr lang="ko-KR" altLang="en-US" sz="1000" dirty="0">
                <a:solidFill>
                  <a:schemeClr val="bg1"/>
                </a:solidFill>
              </a:rPr>
              <a:t> 경험 터미널로 확장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337560" y="2834640"/>
            <a:ext cx="2560320" cy="1920240"/>
          </a:xfrm>
          <a:prstGeom prst="rect">
            <a:avLst/>
          </a:prstGeom>
          <a:solidFill>
            <a:srgbClr val="0D2137"/>
          </a:solidFill>
          <a:ln w="6350">
            <a:solidFill>
              <a:srgbClr val="00C2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74720" y="2926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B2025"/>
                </a:solidFill>
              </a:rPr>
              <a:t>◈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7472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bg1"/>
                </a:solidFill>
              </a:rPr>
              <a:t>시승 및 </a:t>
            </a:r>
            <a:r>
              <a:rPr lang="ko-KR" altLang="en-US" b="1" dirty="0" err="1">
                <a:solidFill>
                  <a:schemeClr val="bg1"/>
                </a:solidFill>
              </a:rPr>
              <a:t>프리오더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3474720" y="3886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ko-KR" altLang="en-US" sz="1000" dirty="0">
                <a:solidFill>
                  <a:schemeClr val="bg1"/>
                </a:solidFill>
              </a:rPr>
              <a:t>출시 전 신차의 공간감을 </a:t>
            </a:r>
            <a:endParaRPr lang="en-US" altLang="ko-KR" sz="1000" dirty="0">
              <a:solidFill>
                <a:schemeClr val="bg1"/>
              </a:solidFill>
            </a:endParaRPr>
          </a:p>
          <a:p>
            <a:pPr>
              <a:lnSpc>
                <a:spcPct val="130000"/>
              </a:lnSpc>
            </a:pPr>
            <a:r>
              <a:rPr lang="ko-KR" altLang="en-US" sz="1000" dirty="0">
                <a:solidFill>
                  <a:schemeClr val="bg1"/>
                </a:solidFill>
              </a:rPr>
              <a:t>물리적으로 경험하는 </a:t>
            </a:r>
            <a:r>
              <a:rPr lang="ko-KR" altLang="en-US" sz="1000" dirty="0" err="1">
                <a:solidFill>
                  <a:schemeClr val="bg1"/>
                </a:solidFill>
              </a:rPr>
              <a:t>인터랙티브</a:t>
            </a:r>
            <a:r>
              <a:rPr lang="ko-KR" altLang="en-US" sz="1000" dirty="0">
                <a:solidFill>
                  <a:schemeClr val="bg1"/>
                </a:solidFill>
              </a:rPr>
              <a:t> 쇼룸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309360" y="2834640"/>
            <a:ext cx="2560320" cy="1920240"/>
          </a:xfrm>
          <a:prstGeom prst="rect">
            <a:avLst/>
          </a:prstGeom>
          <a:solidFill>
            <a:srgbClr val="0D2137"/>
          </a:solidFill>
          <a:ln w="6350">
            <a:solidFill>
              <a:srgbClr val="00C2D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46520" y="2926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B2025"/>
                </a:solidFill>
              </a:rPr>
              <a:t>♦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4652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bg1"/>
                </a:solidFill>
              </a:rPr>
              <a:t>무한한 공간 점유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23" name="Text 20"/>
          <p:cNvSpPr/>
          <p:nvPr/>
        </p:nvSpPr>
        <p:spPr>
          <a:xfrm>
            <a:off x="6446520" y="3886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ko-KR" altLang="en-US" sz="1000" dirty="0">
                <a:solidFill>
                  <a:schemeClr val="bg1"/>
                </a:solidFill>
              </a:rPr>
              <a:t>물리적 소유를 넘어</a:t>
            </a:r>
            <a:r>
              <a:rPr lang="en-US" altLang="ko-KR" sz="1000" dirty="0">
                <a:solidFill>
                  <a:schemeClr val="bg1"/>
                </a:solidFill>
              </a:rPr>
              <a:t>, </a:t>
            </a:r>
            <a:r>
              <a:rPr lang="ko-KR" altLang="en-US" sz="1000" dirty="0">
                <a:solidFill>
                  <a:schemeClr val="bg1"/>
                </a:solidFill>
              </a:rPr>
              <a:t>디자인 철학을 </a:t>
            </a:r>
            <a:endParaRPr lang="en-US" altLang="ko-KR" sz="1000" dirty="0">
              <a:solidFill>
                <a:schemeClr val="bg1"/>
              </a:solidFill>
            </a:endParaRPr>
          </a:p>
          <a:p>
            <a:pPr>
              <a:lnSpc>
                <a:spcPct val="130000"/>
              </a:lnSpc>
            </a:pPr>
            <a:r>
              <a:rPr lang="ko-KR" altLang="en-US" sz="1000" dirty="0">
                <a:solidFill>
                  <a:schemeClr val="bg1"/>
                </a:solidFill>
              </a:rPr>
              <a:t>사용자의 신체적 자산으로 확장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4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400" dirty="0">
                <a:solidFill>
                  <a:srgbClr val="8FA3B1"/>
                </a:solidFill>
              </a:rPr>
              <a:t>KIA — THE SHAPE OF MOTION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180</Words>
  <Application>Microsoft Office PowerPoint</Application>
  <PresentationFormat>화면 슬라이드 쇼(16:9)</PresentationFormat>
  <Paragraphs>56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Arial</vt:lpstr>
      <vt:lpstr>Arial Black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KIA — The Shape of Motion</dc:title>
  <dc:subject>PptxGenJS Presentation</dc:subject>
  <dc:creator>PptxGenJS</dc:creator>
  <cp:lastModifiedBy>Nam Hyuk Lee</cp:lastModifiedBy>
  <cp:revision>7</cp:revision>
  <dcterms:created xsi:type="dcterms:W3CDTF">2026-04-01T14:19:30Z</dcterms:created>
  <dcterms:modified xsi:type="dcterms:W3CDTF">2026-04-02T05:24:34Z</dcterms:modified>
</cp:coreProperties>
</file>