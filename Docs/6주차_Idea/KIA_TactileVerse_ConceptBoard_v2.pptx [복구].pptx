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174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33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30352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80810"/>
          </a:solidFill>
          <a:ln/>
        </p:spPr>
      </p:sp>
      <p:sp>
        <p:nvSpPr>
          <p:cNvPr id="6" name="Shape 3"/>
          <p:cNvSpPr/>
          <p:nvPr/>
        </p:nvSpPr>
        <p:spPr>
          <a:xfrm>
            <a:off x="5303520" y="0"/>
            <a:ext cx="3840480" cy="0"/>
          </a:xfrm>
          <a:prstGeom prst="line">
            <a:avLst/>
          </a:prstGeom>
          <a:noFill/>
          <a:ln w="9525">
            <a:solidFill>
              <a:srgbClr val="15152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024128"/>
            <a:ext cx="3840480" cy="0"/>
          </a:xfrm>
          <a:prstGeom prst="line">
            <a:avLst/>
          </a:prstGeom>
          <a:noFill/>
          <a:ln w="9525">
            <a:solidFill>
              <a:srgbClr val="15152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0" y="2048256"/>
            <a:ext cx="3840480" cy="0"/>
          </a:xfrm>
          <a:prstGeom prst="line">
            <a:avLst/>
          </a:prstGeom>
          <a:noFill/>
          <a:ln w="9525">
            <a:solidFill>
              <a:srgbClr val="1515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0" y="3072384"/>
            <a:ext cx="3840480" cy="0"/>
          </a:xfrm>
          <a:prstGeom prst="line">
            <a:avLst/>
          </a:prstGeom>
          <a:noFill/>
          <a:ln w="9525">
            <a:solidFill>
              <a:srgbClr val="1515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0" y="4096512"/>
            <a:ext cx="3840480" cy="0"/>
          </a:xfrm>
          <a:prstGeom prst="line">
            <a:avLst/>
          </a:prstGeom>
          <a:noFill/>
          <a:ln w="9525">
            <a:solidFill>
              <a:srgbClr val="1515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256032"/>
            <a:ext cx="1234440" cy="292608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256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0810"/>
                </a:solidFill>
              </a:rPr>
              <a:t>KIA MOTORS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440680" y="658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55570"/>
                </a:solidFill>
              </a:rPr>
              <a:t>TACTILE-VERSE  /  택타일-버스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40680" y="1005840"/>
            <a:ext cx="45720" cy="3200400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1005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만질 수 없는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577840" y="15727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미래를 손끝의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77840" y="213969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감각으로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577840" y="27066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FF00"/>
                </a:solidFill>
              </a:rPr>
              <a:t>소유하다.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5577840" y="3456432"/>
            <a:ext cx="3337560" cy="0"/>
          </a:xfrm>
          <a:prstGeom prst="line">
            <a:avLst/>
          </a:prstGeom>
          <a:noFill/>
          <a:ln w="12700">
            <a:solidFill>
              <a:srgbClr val="2222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35661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기아의 '오퍼짓 유나이티드' × Soft Robotics × XR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8587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쇼룸의 유리벽을 넘어, 가상 공간에서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완벽한 소유와 라이프스타일을 향유하다.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743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FF00"/>
                </a:solidFill>
              </a:rPr>
              <a:t>01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55570"/>
                </a:solidFill>
              </a:rPr>
              <a:t>THE VISION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809244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55570"/>
                </a:solidFill>
              </a:rPr>
              <a:t>01 / 04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0" y="34290"/>
            <a:ext cx="530352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00C8F0"/>
                </a:solidFill>
              </a:rPr>
              <a:t>02  EXPERIENCE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핵심 시나리오 3컷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73152"/>
            <a:ext cx="237744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73152"/>
            <a:ext cx="2377440" cy="9144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583680" y="73152"/>
            <a:ext cx="2377440" cy="36576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685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100" dirty="0">
                <a:solidFill>
                  <a:srgbClr val="00C8F0"/>
                </a:solidFill>
              </a:rPr>
              <a:t>REFERENCE VISUAL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2816352" cy="3886200"/>
          </a:xfrm>
          <a:prstGeom prst="rect">
            <a:avLst/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005840"/>
            <a:ext cx="2816352" cy="54864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" y="1170432"/>
            <a:ext cx="2596896" cy="146304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1508760"/>
            <a:ext cx="548640" cy="548640"/>
          </a:xfrm>
          <a:prstGeom prst="ellipse">
            <a:avLst/>
          </a:prstGeom>
          <a:solidFill>
            <a:srgbClr val="C6FF00">
              <a:alpha val="12000"/>
            </a:srgbClr>
          </a:solidFill>
          <a:ln w="15240">
            <a:solidFill>
              <a:srgbClr val="C6FF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35024" y="1508760"/>
            <a:ext cx="548640" cy="548640"/>
          </a:xfrm>
          <a:prstGeom prst="ellipse">
            <a:avLst/>
          </a:prstGeom>
          <a:solidFill>
            <a:srgbClr val="C6FF00">
              <a:alpha val="12000"/>
            </a:srgbClr>
          </a:solidFill>
          <a:ln w="15240">
            <a:solidFill>
              <a:srgbClr val="C6FF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48256" y="1508760"/>
            <a:ext cx="548640" cy="548640"/>
          </a:xfrm>
          <a:prstGeom prst="ellipse">
            <a:avLst/>
          </a:prstGeom>
          <a:solidFill>
            <a:srgbClr val="C6FF00">
              <a:alpha val="12000"/>
            </a:srgbClr>
          </a:solidFill>
          <a:ln w="15240">
            <a:solidFill>
              <a:srgbClr val="C6F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1207008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6FF00"/>
                </a:solidFill>
              </a:rPr>
              <a:t>◈</a:t>
            </a:r>
            <a:endParaRPr lang="en-US" sz="3800" dirty="0"/>
          </a:p>
        </p:txBody>
      </p:sp>
      <p:sp>
        <p:nvSpPr>
          <p:cNvPr id="16" name="Shape 13"/>
          <p:cNvSpPr/>
          <p:nvPr/>
        </p:nvSpPr>
        <p:spPr>
          <a:xfrm>
            <a:off x="384048" y="2724912"/>
            <a:ext cx="2596896" cy="219456"/>
          </a:xfrm>
          <a:prstGeom prst="rect">
            <a:avLst/>
          </a:prstGeom>
          <a:solidFill>
            <a:srgbClr val="C6FF00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84048" y="272491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C6FF00"/>
                </a:solidFill>
              </a:rPr>
              <a:t>INPUT DEVICE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38912" y="30632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C6FF00"/>
                </a:solidFill>
              </a:rPr>
              <a:t>SCENE A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38912" y="327355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Interface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38912" y="362102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AA"/>
                </a:solidFill>
              </a:rPr>
              <a:t>기술적 신뢰감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38912" y="3913632"/>
            <a:ext cx="2487168" cy="0"/>
          </a:xfrm>
          <a:prstGeom prst="line">
            <a:avLst/>
          </a:prstGeom>
          <a:noFill/>
          <a:ln w="9525">
            <a:solidFill>
              <a:srgbClr val="2525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" y="400507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손에 쥔 반투명 실리콘 소프트 로봇 모듈.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38912" y="42793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Frosted Glass 텍스처 안으로 에어포켓과 압력 센서 와이어가 살짝 비친다.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8912" y="455371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FF00"/>
                </a:solidFill>
              </a:rPr>
              <a:t>물리적 입력의 시작점.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218688" y="1005840"/>
            <a:ext cx="2816352" cy="3886200"/>
          </a:xfrm>
          <a:prstGeom prst="rect">
            <a:avLst/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18688" y="1005840"/>
            <a:ext cx="2816352" cy="54864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3328416" y="1170432"/>
            <a:ext cx="2596896" cy="146304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3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1508760"/>
            <a:ext cx="548640" cy="548640"/>
          </a:xfrm>
          <a:prstGeom prst="ellipse">
            <a:avLst/>
          </a:prstGeom>
          <a:solidFill>
            <a:srgbClr val="00C8F0">
              <a:alpha val="12000"/>
            </a:srgbClr>
          </a:solidFill>
          <a:ln w="15240">
            <a:solidFill>
              <a:srgbClr val="00C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79392" y="1508760"/>
            <a:ext cx="548640" cy="548640"/>
          </a:xfrm>
          <a:prstGeom prst="ellipse">
            <a:avLst/>
          </a:prstGeom>
          <a:solidFill>
            <a:srgbClr val="00C8F0">
              <a:alpha val="12000"/>
            </a:srgbClr>
          </a:solidFill>
          <a:ln w="15240">
            <a:solidFill>
              <a:srgbClr val="00C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92624" y="1508760"/>
            <a:ext cx="548640" cy="548640"/>
          </a:xfrm>
          <a:prstGeom prst="ellipse">
            <a:avLst/>
          </a:prstGeom>
          <a:solidFill>
            <a:srgbClr val="00C8F0">
              <a:alpha val="12000"/>
            </a:srgbClr>
          </a:solidFill>
          <a:ln w="15240">
            <a:solidFill>
              <a:srgbClr val="00C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28416" y="1207008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C8F0"/>
                </a:solidFill>
              </a:rPr>
              <a:t>◉</a:t>
            </a:r>
            <a:endParaRPr lang="en-US" sz="3800" dirty="0"/>
          </a:p>
        </p:txBody>
      </p:sp>
      <p:sp>
        <p:nvSpPr>
          <p:cNvPr id="32" name="Shape 29"/>
          <p:cNvSpPr/>
          <p:nvPr/>
        </p:nvSpPr>
        <p:spPr>
          <a:xfrm>
            <a:off x="3328416" y="2724912"/>
            <a:ext cx="2596896" cy="219456"/>
          </a:xfrm>
          <a:prstGeom prst="rect">
            <a:avLst/>
          </a:prstGeom>
          <a:solidFill>
            <a:srgbClr val="00C8F0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3328416" y="272491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00C8F0"/>
                </a:solidFill>
              </a:rPr>
              <a:t>XR ENVIRONMENT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3383280" y="30632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00C8F0"/>
                </a:solidFill>
              </a:rPr>
              <a:t>SCENE B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383280" y="327355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XR Space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3383280" y="362102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AA"/>
                </a:solidFill>
              </a:rPr>
              <a:t>공간감 강조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383280" y="3913632"/>
            <a:ext cx="2487168" cy="0"/>
          </a:xfrm>
          <a:prstGeom prst="line">
            <a:avLst/>
          </a:prstGeom>
          <a:noFill/>
          <a:ln w="9525">
            <a:solidFill>
              <a:srgbClr val="25254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83280" y="400507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스마트 글래스를 착용한 사용자가 가상 EV9 앞에 앉는다.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83280" y="42793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소프트 모듈 조작에 따라 차체 바디라인이 실시간으로 변형.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383280" y="455371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F0"/>
                </a:solidFill>
              </a:rPr>
              <a:t>물리와 가상의 경계가 사라진다.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163056" y="1005840"/>
            <a:ext cx="2816352" cy="3886200"/>
          </a:xfrm>
          <a:prstGeom prst="rect">
            <a:avLst/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163056" y="1005840"/>
            <a:ext cx="28163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Shape 40"/>
          <p:cNvSpPr/>
          <p:nvPr/>
        </p:nvSpPr>
        <p:spPr>
          <a:xfrm>
            <a:off x="6272784" y="1170432"/>
            <a:ext cx="2596896" cy="146304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3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10528" y="1508760"/>
            <a:ext cx="548640" cy="548640"/>
          </a:xfrm>
          <a:prstGeom prst="ellipse">
            <a:avLst/>
          </a:prstGeom>
          <a:solidFill>
            <a:srgbClr val="8B5CF6">
              <a:alpha val="12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223760" y="1508760"/>
            <a:ext cx="548640" cy="548640"/>
          </a:xfrm>
          <a:prstGeom prst="ellipse">
            <a:avLst/>
          </a:prstGeom>
          <a:solidFill>
            <a:srgbClr val="8B5CF6">
              <a:alpha val="12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936992" y="1508760"/>
            <a:ext cx="548640" cy="548640"/>
          </a:xfrm>
          <a:prstGeom prst="ellipse">
            <a:avLst/>
          </a:prstGeom>
          <a:solidFill>
            <a:srgbClr val="8B5CF6">
              <a:alpha val="12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72784" y="1207008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8B5CF6"/>
                </a:solidFill>
              </a:rPr>
              <a:t>◆</a:t>
            </a:r>
            <a:endParaRPr lang="en-US" sz="3800" dirty="0"/>
          </a:p>
        </p:txBody>
      </p:sp>
      <p:sp>
        <p:nvSpPr>
          <p:cNvPr id="48" name="Shape 45"/>
          <p:cNvSpPr/>
          <p:nvPr/>
        </p:nvSpPr>
        <p:spPr>
          <a:xfrm>
            <a:off x="6272784" y="2724912"/>
            <a:ext cx="2596896" cy="219456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272784" y="272491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B5CF6"/>
                </a:solidFill>
              </a:rPr>
              <a:t>HAPTIC FEEDBACK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6327648" y="30632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8B5CF6"/>
                </a:solidFill>
              </a:rPr>
              <a:t>SCENE C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327648" y="327355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Interaction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6327648" y="362102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AA"/>
                </a:solidFill>
              </a:rPr>
              <a:t>디자인 / GUI 강조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327648" y="3913632"/>
            <a:ext cx="2487168" cy="0"/>
          </a:xfrm>
          <a:prstGeom prst="line">
            <a:avLst/>
          </a:prstGeom>
          <a:noFill/>
          <a:ln w="9525">
            <a:solidFill>
              <a:srgbClr val="25254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27648" y="400507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스마트 체어에 앉아 모듈을 누르면 가상 시트가 체형에 맞게 재구성.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327648" y="42793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대시보드가 Responsive Surface로 반응하며 직관적 피드백 제공.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27648" y="455371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5CF6"/>
                </a:solidFill>
              </a:rPr>
              <a:t>모빌리티를 '빚는' 경험.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09244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55570"/>
                </a:solidFill>
              </a:rPr>
              <a:t>02 / 04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B5CF6"/>
                </a:solidFill>
              </a:rPr>
              <a:t>03  TECHNICAL LOGIC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Logic of Softness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AA"/>
                </a:solidFill>
              </a:rPr>
              <a:t>컴공의 엣지 — 실제 구현 가능한 시스템 설계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320040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115568"/>
            <a:ext cx="3200400" cy="237744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" y="3310128"/>
            <a:ext cx="3200400" cy="274320"/>
          </a:xfrm>
          <a:prstGeom prst="rect">
            <a:avLst/>
          </a:prstGeom>
          <a:solidFill>
            <a:srgbClr val="0A0A14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3310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8F0"/>
                </a:solidFill>
              </a:rPr>
              <a:t>Soft Robotics × XR  /  시스템 구현 레퍼런스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0040" y="3675888"/>
            <a:ext cx="3200400" cy="914400"/>
          </a:xfrm>
          <a:prstGeom prst="rect">
            <a:avLst/>
          </a:prstGeom>
          <a:solidFill>
            <a:srgbClr val="0A0A14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3675888"/>
            <a:ext cx="45720" cy="914400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730752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999BB"/>
                </a:solidFill>
              </a:rPr>
              <a:t>"물리적 실체와 디지털 공간 사이의 지연을 최소화하여, 사용자는 가상 자동차를 실제 찰흙을 빚듯 자유롭게 조작한다."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86200" y="1078992"/>
            <a:ext cx="5029200" cy="822960"/>
          </a:xfrm>
          <a:prstGeom prst="rect">
            <a:avLst/>
          </a:prstGeom>
          <a:solidFill>
            <a:srgbClr val="1313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86200" y="1078992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1124712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</a:rPr>
              <a:t>01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229100" y="1901952"/>
            <a:ext cx="0" cy="137160"/>
          </a:xfrm>
          <a:prstGeom prst="line">
            <a:avLst/>
          </a:prstGeom>
          <a:noFill/>
          <a:ln w="19050">
            <a:solidFill>
              <a:srgbClr val="2A2A45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544568" y="115214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</a:rPr>
              <a:t>INPUT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544568" y="1353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Physical Deformation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20840" y="115214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소프트 모듈 압력/곡률 감지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(Pressure Sensor Array)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629400" y="1170432"/>
            <a:ext cx="0" cy="640080"/>
          </a:xfrm>
          <a:prstGeom prst="line">
            <a:avLst/>
          </a:prstGeom>
          <a:noFill/>
          <a:ln w="12700">
            <a:solidFill>
              <a:srgbClr val="2222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86200" y="2039112"/>
            <a:ext cx="5029200" cy="822960"/>
          </a:xfrm>
          <a:prstGeom prst="rect">
            <a:avLst/>
          </a:prstGeom>
          <a:solidFill>
            <a:srgbClr val="13131F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86200" y="2039112"/>
            <a:ext cx="54864" cy="82296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23" name="Text 20"/>
          <p:cNvSpPr/>
          <p:nvPr/>
        </p:nvSpPr>
        <p:spPr>
          <a:xfrm>
            <a:off x="4023360" y="2084832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0"/>
                </a:solidFill>
              </a:rPr>
              <a:t>02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229100" y="2862072"/>
            <a:ext cx="0" cy="137160"/>
          </a:xfrm>
          <a:prstGeom prst="line">
            <a:avLst/>
          </a:prstGeom>
          <a:noFill/>
          <a:ln w="19050">
            <a:solidFill>
              <a:srgbClr val="2A2A45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4544568" y="211226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0C8F0"/>
                </a:solidFill>
              </a:rPr>
              <a:t>DATA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544568" y="2313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Edge Computing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20840" y="211226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벡터 데이터 초저지연 전송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(&lt;5ms, BLE / Wi-Fi 6E)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629400" y="2130552"/>
            <a:ext cx="0" cy="640080"/>
          </a:xfrm>
          <a:prstGeom prst="line">
            <a:avLst/>
          </a:prstGeom>
          <a:noFill/>
          <a:ln w="12700">
            <a:solidFill>
              <a:srgbClr val="2222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886200" y="2999232"/>
            <a:ext cx="5029200" cy="822960"/>
          </a:xfrm>
          <a:prstGeom prst="rect">
            <a:avLst/>
          </a:prstGeom>
          <a:solidFill>
            <a:srgbClr val="13131F"/>
          </a:solidFill>
          <a:ln w="12700">
            <a:solidFill>
              <a:srgbClr val="C6FF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86200" y="2999232"/>
            <a:ext cx="54864" cy="822960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31" name="Text 28"/>
          <p:cNvSpPr/>
          <p:nvPr/>
        </p:nvSpPr>
        <p:spPr>
          <a:xfrm>
            <a:off x="4023360" y="3044952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FF00"/>
                </a:solidFill>
              </a:rPr>
              <a:t>03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4229100" y="3822192"/>
            <a:ext cx="0" cy="137160"/>
          </a:xfrm>
          <a:prstGeom prst="line">
            <a:avLst/>
          </a:prstGeom>
          <a:noFill/>
          <a:ln w="19050">
            <a:solidFill>
              <a:srgbClr val="2A2A45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4544568" y="30723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6FF00"/>
                </a:solidFill>
              </a:rPr>
              <a:t>MAPPING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44568" y="3273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XR Mesh Deformation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720840" y="307238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WebXR + 물리 엔진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가상 메쉬 실시간 변형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29400" y="3090672"/>
            <a:ext cx="0" cy="640080"/>
          </a:xfrm>
          <a:prstGeom prst="line">
            <a:avLst/>
          </a:prstGeom>
          <a:noFill/>
          <a:ln w="12700">
            <a:solidFill>
              <a:srgbClr val="22223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86200" y="3959352"/>
            <a:ext cx="5029200" cy="822960"/>
          </a:xfrm>
          <a:prstGeom prst="rect">
            <a:avLst/>
          </a:prstGeom>
          <a:solidFill>
            <a:srgbClr val="13131F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886200" y="3959352"/>
            <a:ext cx="54864" cy="822960"/>
          </a:xfrm>
          <a:prstGeom prst="rect">
            <a:avLst/>
          </a:prstGeom>
          <a:solidFill>
            <a:srgbClr val="FF4455"/>
          </a:solidFill>
          <a:ln/>
        </p:spPr>
      </p:sp>
      <p:sp>
        <p:nvSpPr>
          <p:cNvPr id="39" name="Text 36"/>
          <p:cNvSpPr/>
          <p:nvPr/>
        </p:nvSpPr>
        <p:spPr>
          <a:xfrm>
            <a:off x="4023360" y="4005072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455"/>
                </a:solidFill>
              </a:rPr>
              <a:t>04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4544568" y="40325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F4455"/>
                </a:solidFill>
              </a:rPr>
              <a:t>OUTPUT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544568" y="4233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Haptic Feedback Loop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720840" y="403250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Pneumatic Actuator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AA"/>
                </a:solidFill>
              </a:rPr>
              <a:t>스마트 체어 + 모듈 촉각 반환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629400" y="4050792"/>
            <a:ext cx="0" cy="640080"/>
          </a:xfrm>
          <a:prstGeom prst="line">
            <a:avLst/>
          </a:prstGeom>
          <a:noFill/>
          <a:ln w="12700">
            <a:solidFill>
              <a:srgbClr val="22223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886200" y="4773168"/>
            <a:ext cx="5029200" cy="274320"/>
          </a:xfrm>
          <a:prstGeom prst="rect">
            <a:avLst/>
          </a:prstGeom>
          <a:solidFill>
            <a:srgbClr val="0A0A14"/>
          </a:solidFill>
          <a:ln w="12700">
            <a:solidFill>
              <a:srgbClr val="2222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886200" y="47731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8F0"/>
                </a:solidFill>
              </a:rPr>
              <a:t>⚡  End-to-End Latency Target: &lt;5ms   |   Haptic Sync: 120Hz   |   WebXR: 90fps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809244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55570"/>
                </a:solidFill>
              </a:rPr>
              <a:t>03 / 04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00C8F0"/>
                </a:solidFill>
              </a:rPr>
              <a:t>04  GUI &amp; SERVICE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Responsive Surface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663440" cy="114300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663440" cy="36576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00C8F0"/>
                </a:solidFill>
              </a:rPr>
              <a:t>✦  Starmap Signature Lighting  ✦  기아 라이팅 디자인 모티브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1261872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508760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1298448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1536192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1325880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0" y="1572768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1828800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1783080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1874520"/>
            <a:ext cx="64008" cy="64008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" y="1449324"/>
            <a:ext cx="502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5004" y="1293876"/>
            <a:ext cx="594360" cy="24688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69364" y="1540764"/>
            <a:ext cx="5943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63724" y="1330452"/>
            <a:ext cx="594360" cy="237744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58084" y="1568196"/>
            <a:ext cx="5943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52444" y="1357884"/>
            <a:ext cx="594360" cy="24688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" y="1293876"/>
            <a:ext cx="32004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5044" y="1860804"/>
            <a:ext cx="1188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3764" y="1815084"/>
            <a:ext cx="1097280" cy="914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240280"/>
            <a:ext cx="4663440" cy="960120"/>
          </a:xfrm>
          <a:prstGeom prst="rect">
            <a:avLst/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240280"/>
            <a:ext cx="54864" cy="960120"/>
          </a:xfrm>
          <a:prstGeom prst="rect">
            <a:avLst/>
          </a:prstGeom>
          <a:solidFill>
            <a:srgbClr val="FF4455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0" y="2560320"/>
            <a:ext cx="822960" cy="219456"/>
          </a:xfrm>
          <a:prstGeom prst="rect">
            <a:avLst/>
          </a:prstGeom>
          <a:solidFill>
            <a:srgbClr val="FF4455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0" y="25603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100" dirty="0">
                <a:solidFill>
                  <a:srgbClr val="FF4455"/>
                </a:solidFill>
              </a:rPr>
              <a:t>CONTRACTION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0" y="244144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4455"/>
                </a:solidFill>
              </a:rPr>
              <a:t>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012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455"/>
                </a:solidFill>
              </a:rPr>
              <a:t>SPORT MODE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" y="2624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공간 벽이 단단하게 수축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반응형 긴장감 — 퍼포먼스 몰입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337560"/>
            <a:ext cx="4663440" cy="960120"/>
          </a:xfrm>
          <a:prstGeom prst="rect">
            <a:avLst/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337560"/>
            <a:ext cx="54864" cy="960120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0" y="3657600"/>
            <a:ext cx="822960" cy="219456"/>
          </a:xfrm>
          <a:prstGeom prst="rect">
            <a:avLst/>
          </a:prstGeom>
          <a:solidFill>
            <a:srgbClr val="C6FF0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0" y="36576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100" dirty="0">
                <a:solidFill>
                  <a:srgbClr val="C6FF00"/>
                </a:solidFill>
              </a:rPr>
              <a:t>EXPANSION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57200" y="35387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6FF00"/>
                </a:solidFill>
              </a:rPr>
              <a:t>◯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012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FF00"/>
                </a:solidFill>
              </a:rPr>
              <a:t>COMFORT MODE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" y="37216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공간이 부드럽게 팽창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유연한 이완감 — 릴렉스 라이드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343400"/>
            <a:ext cx="466344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343400"/>
            <a:ext cx="54864" cy="502920"/>
          </a:xfrm>
          <a:prstGeom prst="rect">
            <a:avLst/>
          </a:prstGeom>
          <a:solidFill>
            <a:srgbClr val="C6FF0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37083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BB"/>
                </a:solidFill>
              </a:rPr>
              <a:t>버튼을 누르는 대신, 공간의 표면(Surface)을 밀고 당기며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AAAABB"/>
                </a:solidFill>
              </a:rPr>
              <a:t>모빌리티와 직접 교감하는 새로운 UX.</a:t>
            </a:r>
            <a:endParaRPr lang="en-US" sz="85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914400"/>
            <a:ext cx="3703320" cy="397764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5212080" y="914400"/>
            <a:ext cx="3703320" cy="397764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212080" y="914400"/>
            <a:ext cx="457200" cy="3977640"/>
          </a:xfrm>
          <a:prstGeom prst="rect">
            <a:avLst/>
          </a:prstGeom>
          <a:solidFill>
            <a:srgbClr val="080810"/>
          </a:solidFill>
          <a:ln/>
        </p:spPr>
      </p:sp>
      <p:sp>
        <p:nvSpPr>
          <p:cNvPr id="47" name="Shape 44"/>
          <p:cNvSpPr/>
          <p:nvPr/>
        </p:nvSpPr>
        <p:spPr>
          <a:xfrm>
            <a:off x="5212080" y="4526280"/>
            <a:ext cx="3703320" cy="365760"/>
          </a:xfrm>
          <a:prstGeom prst="rect">
            <a:avLst/>
          </a:prstGeom>
          <a:solidFill>
            <a:srgbClr val="0A0A14"/>
          </a:solidFill>
          <a:ln/>
        </p:spPr>
      </p:sp>
      <p:sp>
        <p:nvSpPr>
          <p:cNvPr id="48" name="Text 45"/>
          <p:cNvSpPr/>
          <p:nvPr/>
        </p:nvSpPr>
        <p:spPr>
          <a:xfrm>
            <a:off x="5212080" y="4526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8F0"/>
                </a:solidFill>
              </a:rPr>
              <a:t>Smart Chair  ×  Soft Robotics Module  ×  KIA EV Hologram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09244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55570"/>
                </a:solidFill>
              </a:rPr>
              <a:t>04 / 04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화면 슬라이드 쇼(16:9)</PresentationFormat>
  <Paragraphs>88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KIA Tactile-Verse Concept Board</dc:title>
  <dc:subject>PptxGenJS Presentation</dc:subject>
  <dc:creator>PptxGenJS</dc:creator>
  <cp:lastModifiedBy>User</cp:lastModifiedBy>
  <cp:revision>2</cp:revision>
  <dcterms:created xsi:type="dcterms:W3CDTF">2026-03-29T14:52:06Z</dcterms:created>
  <dcterms:modified xsi:type="dcterms:W3CDTF">2026-03-29T14:53:58Z</dcterms:modified>
</cp:coreProperties>
</file>